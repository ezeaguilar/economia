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10" Type="http://schemas.openxmlformats.org/officeDocument/2006/relationships/image" Target="../media/image7.png"/><Relationship Id="rId9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1905000" y="-2381250"/>
            <a:ext cx="6667500" cy="6667500"/>
          </a:xfrm>
          <a:prstGeom prst="ellipse">
            <a:avLst/>
          </a:prstGeom>
          <a:solidFill>
            <a:srgbClr val="00BC7D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4668500" y="7239000"/>
            <a:ext cx="4762500" cy="4762500"/>
          </a:xfrm>
          <a:prstGeom prst="ellipse">
            <a:avLst/>
          </a:prstGeom>
          <a:solidFill>
            <a:srgbClr val="00D5BE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952500"/>
            <a:ext cx="8001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2114550" y="981075"/>
            <a:ext cx="1369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NexoBot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2623344"/>
            <a:ext cx="3485674" cy="571500"/>
          </a:xfrm>
          <a:prstGeom prst="roundRect">
            <a:avLst>
              <a:gd fmla="val 5000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381125" y="2861469"/>
            <a:ext cx="95250" cy="95250"/>
          </a:xfrm>
          <a:prstGeom prst="ellipse">
            <a:avLst/>
          </a:prstGeom>
          <a:solidFill>
            <a:srgbClr val="00D492">
              <a:alpha val="58039"/>
            </a:srgbClr>
          </a:solidFill>
          <a:ln>
            <a:noFill/>
          </a:ln>
          <a:effectLst>
            <a:outerShdw blurRad="152400" rotWithShape="0" algn="bl" dir="16200000" dist="50800">
              <a:srgbClr val="00D492">
                <a:alpha val="5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609725" y="2747169"/>
            <a:ext cx="286424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Validación de la solución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143000" y="3575844"/>
            <a:ext cx="15697200" cy="28362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0"/>
              <a:buFont typeface="Arial"/>
              <a:buNone/>
            </a:pPr>
            <a:r>
              <a:rPr b="0" i="0" lang="en-US" sz="10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Validación de la solución </a:t>
            </a:r>
            <a:r>
              <a:rPr b="0" i="0" lang="en-US" sz="10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 NexoBot.</a:t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143000" y="6716871"/>
            <a:ext cx="12753975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chemeClr val="lt1"/>
                </a:solidFill>
              </a:rPr>
              <a:t>Un chatbot con IA para que los comercios dejen de perder tiempo respondiendo lo mismo todo el día.</a:t>
            </a:r>
            <a:endParaRPr b="1" i="0" sz="28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5381288" y="8943975"/>
            <a:ext cx="12207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15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14158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7296516" y="9690588"/>
            <a:ext cx="1489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5556C"/>
                </a:solidFill>
              </a:rPr>
              <a:t>01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-1905000" y="-2381250"/>
            <a:ext cx="6667500" cy="6667500"/>
          </a:xfrm>
          <a:prstGeom prst="ellipse">
            <a:avLst/>
          </a:prstGeom>
          <a:solidFill>
            <a:srgbClr val="00BC7D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4668500" y="7239000"/>
            <a:ext cx="4762500" cy="4762500"/>
          </a:xfrm>
          <a:prstGeom prst="ellipse">
            <a:avLst/>
          </a:prstGeom>
          <a:solidFill>
            <a:srgbClr val="00D5BE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143000" y="952500"/>
            <a:ext cx="2044065" cy="438150"/>
          </a:xfrm>
          <a:prstGeom prst="roundRect">
            <a:avLst>
              <a:gd fmla="val 5000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362075" y="1114425"/>
            <a:ext cx="114300" cy="114300"/>
          </a:xfrm>
          <a:prstGeom prst="ellipse">
            <a:avLst/>
          </a:prstGeom>
          <a:solidFill>
            <a:srgbClr val="00D492"/>
          </a:solidFill>
          <a:ln>
            <a:noFill/>
          </a:ln>
          <a:effectLst>
            <a:outerShdw blurRad="152400" rotWithShape="0" algn="bl" dir="16200000" dist="50800">
              <a:srgbClr val="00D49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609725" y="1057275"/>
            <a:ext cx="14344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02 · Solución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7507" y="1019175"/>
            <a:ext cx="533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16274257" y="1023938"/>
            <a:ext cx="94694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NexoBot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1924050"/>
            <a:ext cx="14716125" cy="13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chatbot con IA conectado a la base de datos del negocio.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43000" y="3794125"/>
            <a:ext cx="533400" cy="533400"/>
          </a:xfrm>
          <a:prstGeom prst="ellipse">
            <a:avLst/>
          </a:prstGeom>
          <a:solidFill>
            <a:srgbClr val="00BC7D"/>
          </a:solidFill>
          <a:ln>
            <a:noFill/>
          </a:ln>
          <a:effectLst>
            <a:outerShdw blurRad="57150" rotWithShape="0" algn="bl" dir="5400000" dist="38100">
              <a:srgbClr val="00BC7D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104900" y="3794125"/>
            <a:ext cx="6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981200" y="3851275"/>
            <a:ext cx="73776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</a:rPr>
              <a:t>Atiende donde el cliente ya escribe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981200" y="4251325"/>
            <a:ext cx="7377684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</a:rPr>
              <a:t>Funciona en WhatsApp, Instagram y la web. El cliente no tiene que cambiar de app para preguntar.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143000" y="5127625"/>
            <a:ext cx="533400" cy="533400"/>
          </a:xfrm>
          <a:prstGeom prst="ellipse">
            <a:avLst/>
          </a:prstGeom>
          <a:solidFill>
            <a:srgbClr val="00BC7D"/>
          </a:solidFill>
          <a:ln>
            <a:noFill/>
          </a:ln>
          <a:effectLst>
            <a:outerShdw blurRad="57150" rotWithShape="0" algn="bl" dir="5400000" dist="38100">
              <a:srgbClr val="00BC7D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104900" y="5127625"/>
            <a:ext cx="6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981200" y="5184775"/>
            <a:ext cx="73776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</a:rPr>
              <a:t>Responde con la info real del negocio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981200" y="5584825"/>
            <a:ext cx="7377684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</a:rPr>
              <a:t>Se conecta a la base de datos del comercio, así contesta precios y stock al día. No inventa nada.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143000" y="6461125"/>
            <a:ext cx="533400" cy="533400"/>
          </a:xfrm>
          <a:prstGeom prst="ellipse">
            <a:avLst/>
          </a:prstGeom>
          <a:solidFill>
            <a:srgbClr val="00BC7D"/>
          </a:solidFill>
          <a:ln>
            <a:noFill/>
          </a:ln>
          <a:effectLst>
            <a:outerShdw blurRad="57150" rotWithShape="0" algn="bl" dir="5400000" dist="38100">
              <a:srgbClr val="00BC7D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104900" y="6461125"/>
            <a:ext cx="6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981200" y="6518275"/>
            <a:ext cx="73776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</a:rPr>
              <a:t>Llama a una persona cuando hace falta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981200" y="6918325"/>
            <a:ext cx="7377684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</a:rPr>
              <a:t>Si la consulta es delicada o se sale del libreto, le pasa la conversación a alguien del equipo.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143000" y="7794625"/>
            <a:ext cx="533400" cy="533400"/>
          </a:xfrm>
          <a:prstGeom prst="ellipse">
            <a:avLst/>
          </a:prstGeom>
          <a:solidFill>
            <a:srgbClr val="00BC7D"/>
          </a:solidFill>
          <a:ln>
            <a:noFill/>
          </a:ln>
          <a:effectLst>
            <a:outerShdw blurRad="57150" rotWithShape="0" algn="bl" dir="5400000" dist="38100">
              <a:srgbClr val="00BC7D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104900" y="7794625"/>
            <a:ext cx="6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981200" y="7851775"/>
            <a:ext cx="73776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</a:rPr>
              <a:t>Se puede ampliar con el tiempo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981200" y="8251825"/>
            <a:ext cx="7377684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</a:rPr>
              <a:t>Más adelante puede sumar CRM, facturación e inventario, sobre la misma base de datos.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0763250" y="3469323"/>
            <a:ext cx="6381750" cy="5793105"/>
          </a:xfrm>
          <a:prstGeom prst="roundRect">
            <a:avLst>
              <a:gd fmla="val 3946" name="adj"/>
            </a:avLst>
          </a:prstGeom>
          <a:solidFill>
            <a:srgbClr val="0F172B"/>
          </a:solidFill>
          <a:ln cap="flat" cmpd="sng" w="9525">
            <a:solidFill>
              <a:srgbClr val="31415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476250" rotWithShape="0" algn="bl" dir="5400000" dist="238125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1001375" y="4469448"/>
            <a:ext cx="590550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11001375" y="3774123"/>
            <a:ext cx="457200" cy="457200"/>
          </a:xfrm>
          <a:prstGeom prst="ellipse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1375" y="377412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11591925" y="3707448"/>
            <a:ext cx="292556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NexoBot · Farmacia Central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1591925" y="4002723"/>
            <a:ext cx="10579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En línea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1001375" y="4688523"/>
            <a:ext cx="5905500" cy="4335780"/>
          </a:xfrm>
          <a:prstGeom prst="roundRect">
            <a:avLst>
              <a:gd fmla="val 2636" name="adj"/>
            </a:avLst>
          </a:prstGeom>
          <a:solidFill>
            <a:srgbClr val="0B10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13338175" y="4859973"/>
            <a:ext cx="3397250" cy="537210"/>
          </a:xfrm>
          <a:prstGeom prst="roundRect">
            <a:avLst>
              <a:gd fmla="val 31915" name="adj"/>
            </a:avLst>
          </a:prstGeom>
          <a:solidFill>
            <a:srgbClr val="009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3490575" y="4974273"/>
            <a:ext cx="3194368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Hola, ¿tenés ibuprofeno 400?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1172825" y="5492432"/>
            <a:ext cx="4754880" cy="845820"/>
          </a:xfrm>
          <a:prstGeom prst="roundRect">
            <a:avLst>
              <a:gd fmla="val 20270" name="adj"/>
            </a:avLst>
          </a:prstGeom>
          <a:solidFill>
            <a:srgbClr val="1D293D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1325225" y="5606732"/>
            <a:ext cx="4592727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¡Hola! 👋 Sí, tenemos stock. Caja x10 — $2.850. ¿Te lo reservo?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3963333" y="6433503"/>
            <a:ext cx="2772092" cy="537210"/>
          </a:xfrm>
          <a:prstGeom prst="roundRect">
            <a:avLst>
              <a:gd fmla="val 31915" name="adj"/>
            </a:avLst>
          </a:prstGeom>
          <a:solidFill>
            <a:srgbClr val="009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14115733" y="6547803"/>
            <a:ext cx="2550455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¿Hasta qué hora están?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1172825" y="7065962"/>
            <a:ext cx="4754880" cy="845820"/>
          </a:xfrm>
          <a:prstGeom prst="roundRect">
            <a:avLst>
              <a:gd fmla="val 20270" name="adj"/>
            </a:avLst>
          </a:prstGeom>
          <a:solidFill>
            <a:srgbClr val="1D293D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11325225" y="7180262"/>
            <a:ext cx="4592727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Hoy abierto hasta las 22 hs. Aceptamos efectivo, débito y MercadoPago.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1980545" y="8007032"/>
            <a:ext cx="4754880" cy="845820"/>
          </a:xfrm>
          <a:prstGeom prst="roundRect">
            <a:avLst>
              <a:gd fmla="val 20270" name="adj"/>
            </a:avLst>
          </a:prstGeom>
          <a:solidFill>
            <a:srgbClr val="009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12132945" y="8121332"/>
            <a:ext cx="4592727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Necesito hablar con alguien por una receta.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143000" y="9686925"/>
            <a:ext cx="20923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Solución propuesta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7405033" y="9686925"/>
            <a:ext cx="882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02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/>
          <p:nvPr/>
        </p:nvSpPr>
        <p:spPr>
          <a:xfrm>
            <a:off x="-1905000" y="-2381250"/>
            <a:ext cx="6667500" cy="6667500"/>
          </a:xfrm>
          <a:prstGeom prst="ellipse">
            <a:avLst/>
          </a:prstGeom>
          <a:solidFill>
            <a:srgbClr val="00BC7D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14668500" y="7294275"/>
            <a:ext cx="4762500" cy="4762500"/>
          </a:xfrm>
          <a:prstGeom prst="ellipse">
            <a:avLst/>
          </a:prstGeom>
          <a:solidFill>
            <a:srgbClr val="00D5BE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1143000" y="952500"/>
            <a:ext cx="3581083" cy="438150"/>
          </a:xfrm>
          <a:prstGeom prst="roundRect">
            <a:avLst>
              <a:gd fmla="val 5000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1362075" y="1114425"/>
            <a:ext cx="114300" cy="114300"/>
          </a:xfrm>
          <a:prstGeom prst="ellipse">
            <a:avLst/>
          </a:prstGeom>
          <a:solidFill>
            <a:srgbClr val="00D492"/>
          </a:solidFill>
          <a:ln>
            <a:noFill/>
          </a:ln>
          <a:effectLst>
            <a:outerShdw blurRad="152400" rotWithShape="0" algn="bl" dir="16200000" dist="50800">
              <a:srgbClr val="00D49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1609725" y="1057275"/>
            <a:ext cx="29821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03 · Mercado · Bahía Blanca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7507" y="1019175"/>
            <a:ext cx="533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16274257" y="1023938"/>
            <a:ext cx="94694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NexoBot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143000" y="2613660"/>
            <a:ext cx="4949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Ciudad de Bahía Blanca · Donde arrancamos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143000" y="3308985"/>
            <a:ext cx="745617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509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143000" y="5252085"/>
            <a:ext cx="68675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comercios direccionables en la ciudad, con inventario complejo y mucho tráfico de consultas. Es nuestro mercado más cercano.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143000" y="6604635"/>
            <a:ext cx="745617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Fuente: Mapa de Comercios · Municipio de Bahía Blanca, Colegio de Farmacéuticos y datos sectoriales.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9144000" y="1924050"/>
            <a:ext cx="8001000" cy="6189345"/>
          </a:xfrm>
          <a:prstGeom prst="roundRect">
            <a:avLst>
              <a:gd fmla="val 2462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9439275" y="2832735"/>
            <a:ext cx="74104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9439275" y="2268855"/>
            <a:ext cx="400050" cy="400050"/>
          </a:xfrm>
          <a:prstGeom prst="roundRect">
            <a:avLst>
              <a:gd fmla="val 2381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4525" y="236410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10163175" y="2199322"/>
            <a:ext cx="115141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Farmacias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0163175" y="2522220"/>
            <a:ext cx="620301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minoristas en el ejido urbano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6299814" y="2316480"/>
            <a:ext cx="549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439275" y="3569970"/>
            <a:ext cx="74104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9439275" y="3006090"/>
            <a:ext cx="400050" cy="400050"/>
          </a:xfrm>
          <a:prstGeom prst="roundRect">
            <a:avLst>
              <a:gd fmla="val 2381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4525" y="310134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10163175" y="2936557"/>
            <a:ext cx="26508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Ferreterías e industriales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0163175" y="3259455"/>
            <a:ext cx="6272176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350"/>
              <a:buFont typeface="Arial"/>
              <a:buNone/>
            </a:pPr>
            <a:r>
              <a:rPr lang="en-US" sz="1350">
                <a:solidFill>
                  <a:schemeClr val="lt1"/>
                </a:solidFill>
              </a:rPr>
              <a:t>Principalmente de barrios y algunas industriales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6366966" y="3053715"/>
            <a:ext cx="48275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439275" y="4307205"/>
            <a:ext cx="74104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9439275" y="3743325"/>
            <a:ext cx="400050" cy="400050"/>
          </a:xfrm>
          <a:prstGeom prst="roundRect">
            <a:avLst>
              <a:gd fmla="val 2381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34525" y="38385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10163175" y="3673793"/>
            <a:ext cx="240204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Pet shops y forrajerías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0163175" y="3996690"/>
            <a:ext cx="6314525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consumo recurrente cada 15–30 días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6408082" y="3790950"/>
            <a:ext cx="44164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439275" y="5044440"/>
            <a:ext cx="74104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9439275" y="4480560"/>
            <a:ext cx="400050" cy="400050"/>
          </a:xfrm>
          <a:prstGeom prst="roundRect">
            <a:avLst>
              <a:gd fmla="val 2381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34525" y="457581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10163175" y="4411028"/>
            <a:ext cx="271283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Repuestos del automotor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0163175" y="4733925"/>
            <a:ext cx="6339707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compatibilidad por modelo y año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6432530" y="4528185"/>
            <a:ext cx="41719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439275" y="5781675"/>
            <a:ext cx="74104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9439275" y="5217795"/>
            <a:ext cx="400050" cy="400050"/>
          </a:xfrm>
          <a:prstGeom prst="roundRect">
            <a:avLst>
              <a:gd fmla="val 2381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34525" y="531304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10163175" y="5148263"/>
            <a:ext cx="26693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Corralones de materiales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0163175" y="5471160"/>
            <a:ext cx="6311092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chemeClr val="lt1"/>
                </a:solidFill>
              </a:rPr>
              <a:t>presupuestos que vencen en 24–48 hs</a:t>
            </a:r>
            <a:endParaRPr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6404749" y="5265420"/>
            <a:ext cx="44497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439275" y="6518910"/>
            <a:ext cx="74104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9439275" y="5955030"/>
            <a:ext cx="400050" cy="400050"/>
          </a:xfrm>
          <a:prstGeom prst="roundRect">
            <a:avLst>
              <a:gd fmla="val 2381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34525" y="605028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10163175" y="5885498"/>
            <a:ext cx="120094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Pinturerías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0163175" y="6208395"/>
            <a:ext cx="6311746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cadenas con varias sucursales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6405384" y="6002655"/>
            <a:ext cx="44434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9439275" y="7256145"/>
            <a:ext cx="74104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9439275" y="6692265"/>
            <a:ext cx="400050" cy="400050"/>
          </a:xfrm>
          <a:prstGeom prst="roundRect">
            <a:avLst>
              <a:gd fmla="val 2381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34525" y="678751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10163175" y="6622732"/>
            <a:ext cx="12087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Droguerías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0163175" y="6945630"/>
            <a:ext cx="6389087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350"/>
              <a:buFont typeface="Arial"/>
              <a:buNone/>
            </a:pPr>
            <a:r>
              <a:rPr i="0" lang="en-US" sz="1350" u="none" cap="none" strike="noStrike">
                <a:solidFill>
                  <a:schemeClr val="lt1"/>
                </a:solidFill>
              </a:rPr>
              <a:t>distribución mayorista a farmacias</a:t>
            </a:r>
            <a:endParaRPr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6480473" y="6739890"/>
            <a:ext cx="36925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439275" y="7303770"/>
            <a:ext cx="7410450" cy="9525"/>
          </a:xfrm>
          <a:prstGeom prst="rect">
            <a:avLst/>
          </a:prstGeom>
          <a:solidFill>
            <a:srgbClr val="00BC7D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10163175" y="7499985"/>
            <a:ext cx="5975074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direccionable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6078517" y="7446645"/>
            <a:ext cx="77120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509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143000" y="8303895"/>
            <a:ext cx="16002000" cy="876300"/>
          </a:xfrm>
          <a:prstGeom prst="roundRect">
            <a:avLst>
              <a:gd fmla="val 17391" name="adj"/>
            </a:avLst>
          </a:prstGeom>
          <a:solidFill>
            <a:srgbClr val="002C22">
              <a:alpha val="3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419225" y="8618220"/>
            <a:ext cx="20408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Por dónde arrancamos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650615" y="8484870"/>
            <a:ext cx="1155444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Farmacias y repuestos del automotor son los rubros con más fricción diaria: validar coberturas, modelos, marcas. Son la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primera ola </a:t>
            </a:r>
            <a:r>
              <a:rPr b="0" i="0" lang="en-US" sz="15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de prospección.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5135225" y="8570595"/>
            <a:ext cx="1809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225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locales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7406303" y="9663225"/>
            <a:ext cx="881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03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-1905000" y="-2381250"/>
            <a:ext cx="6667500" cy="6667500"/>
          </a:xfrm>
          <a:prstGeom prst="ellipse">
            <a:avLst/>
          </a:prstGeom>
          <a:solidFill>
            <a:srgbClr val="00BC7D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1143000" y="952500"/>
            <a:ext cx="3170872" cy="438150"/>
          </a:xfrm>
          <a:prstGeom prst="roundRect">
            <a:avLst>
              <a:gd fmla="val 5000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1362075" y="1114425"/>
            <a:ext cx="114300" cy="114300"/>
          </a:xfrm>
          <a:prstGeom prst="ellipse">
            <a:avLst/>
          </a:prstGeom>
          <a:solidFill>
            <a:srgbClr val="00D492"/>
          </a:solidFill>
          <a:ln>
            <a:noFill/>
          </a:ln>
          <a:effectLst>
            <a:outerShdw blurRad="152400" rotWithShape="0" algn="bl" dir="16200000" dist="50800">
              <a:srgbClr val="00D49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1609725" y="1057275"/>
            <a:ext cx="25612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04 · Mercado · Provincia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7507" y="1019175"/>
            <a:ext cx="533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16274257" y="1023938"/>
            <a:ext cx="94694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NexoBot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143000" y="2322195"/>
            <a:ext cx="492450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Provincia de Buenos Aires · Sector comercio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143000" y="3017520"/>
            <a:ext cx="863346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2000"/>
              <a:buFont typeface="Arial"/>
              <a:buNone/>
            </a:pPr>
            <a:r>
              <a:rPr b="0" i="0" lang="en-US" sz="120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138.279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143000" y="4617720"/>
            <a:ext cx="68675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PyMEs del comercio registradas en la provincia. Es el piso de cuántos negocios podrían ser clientes nuestros.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143000" y="5970270"/>
            <a:ext cx="86334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Fuente: Registro MiPyME · Observatorio del Conurbano UNGS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0287000" y="1924050"/>
            <a:ext cx="6858000" cy="1310640"/>
          </a:xfrm>
          <a:prstGeom prst="roundRect">
            <a:avLst>
              <a:gd fmla="val 11628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10563225" y="2162175"/>
            <a:ext cx="174402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83.238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3336905" y="2379345"/>
            <a:ext cx="3531870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comercios PyME están en el AMBA, cerca nuestro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0287000" y="3444240"/>
            <a:ext cx="6858000" cy="1619250"/>
          </a:xfrm>
          <a:prstGeom prst="roundRect">
            <a:avLst>
              <a:gd fmla="val 9412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10563225" y="3682365"/>
            <a:ext cx="141081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60,2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3336905" y="3899535"/>
            <a:ext cx="3531870" cy="9639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del comercio PyME de la provincia se concentra en el AMBA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0287000" y="5273040"/>
            <a:ext cx="6858000" cy="1619250"/>
          </a:xfrm>
          <a:prstGeom prst="roundRect">
            <a:avLst>
              <a:gd fmla="val 9412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10563225" y="5511165"/>
            <a:ext cx="123412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71,5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3336905" y="5728335"/>
            <a:ext cx="3531870" cy="9639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de los emprendedores argentinos ya vende por WhatsApp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143000" y="7273290"/>
            <a:ext cx="5156200" cy="2731770"/>
          </a:xfrm>
          <a:prstGeom prst="roundRect">
            <a:avLst>
              <a:gd fmla="val 5579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419225" y="7511415"/>
            <a:ext cx="47418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58,4%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419225" y="8368665"/>
            <a:ext cx="47418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≈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81.000 </a:t>
            </a:r>
            <a:r>
              <a:rPr b="0" i="0" lang="en-US" sz="195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comercios bonaerenses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419225" y="8806815"/>
            <a:ext cx="4741862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2748E"/>
                </a:solidFill>
                <a:latin typeface="Arial"/>
                <a:ea typeface="Arial"/>
                <a:cs typeface="Arial"/>
                <a:sym typeface="Arial"/>
              </a:rPr>
              <a:t>de las PyMEs argentinas todavía no usa ninguna herramienta de 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565900" y="7273290"/>
            <a:ext cx="5156200" cy="2731770"/>
          </a:xfrm>
          <a:prstGeom prst="roundRect">
            <a:avLst>
              <a:gd fmla="val 5579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842125" y="7511415"/>
            <a:ext cx="474186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51,9%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842125" y="8368665"/>
            <a:ext cx="474186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≈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72.000 </a:t>
            </a:r>
            <a:r>
              <a:rPr b="0" i="0" lang="en-US" sz="195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comercios bonaerenses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842125" y="8806815"/>
            <a:ext cx="4741863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2748E"/>
                </a:solidFill>
                <a:latin typeface="Arial"/>
                <a:ea typeface="Arial"/>
                <a:cs typeface="Arial"/>
                <a:sym typeface="Arial"/>
              </a:rPr>
              <a:t>no tiene un sistema de gestión ni facturación digital integrada.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1988800" y="7273290"/>
            <a:ext cx="5156200" cy="2731770"/>
          </a:xfrm>
          <a:prstGeom prst="roundRect">
            <a:avLst>
              <a:gd fmla="val 5579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2265025" y="7511415"/>
            <a:ext cx="47418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57,1%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2265025" y="8368665"/>
            <a:ext cx="474186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de las consultas se resuelven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2265025" y="8806815"/>
            <a:ext cx="47418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2748E"/>
                </a:solidFill>
                <a:latin typeface="Arial"/>
                <a:ea typeface="Arial"/>
                <a:cs typeface="Arial"/>
                <a:sym typeface="Arial"/>
              </a:rPr>
              <a:t>sin necesidad de una persona, cuando hay un asistente automatizado (Tiendanube, 2025).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7411700" y="9686963"/>
            <a:ext cx="879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04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14668500" y="7239000"/>
            <a:ext cx="4762500" cy="4762500"/>
          </a:xfrm>
          <a:prstGeom prst="ellipse">
            <a:avLst/>
          </a:prstGeom>
          <a:solidFill>
            <a:srgbClr val="00D5BE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1143000" y="952500"/>
            <a:ext cx="2875280" cy="438150"/>
          </a:xfrm>
          <a:prstGeom prst="roundRect">
            <a:avLst>
              <a:gd fmla="val 5000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1362075" y="1114425"/>
            <a:ext cx="114300" cy="114300"/>
          </a:xfrm>
          <a:prstGeom prst="ellipse">
            <a:avLst/>
          </a:prstGeom>
          <a:solidFill>
            <a:srgbClr val="00D492"/>
          </a:solidFill>
          <a:ln>
            <a:noFill/>
          </a:ln>
          <a:effectLst>
            <a:outerShdw blurRad="152400" rotWithShape="0" algn="bl" dir="16200000" dist="50800">
              <a:srgbClr val="00D49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1609725" y="1057275"/>
            <a:ext cx="22656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05 · Validación inicial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7507" y="1019175"/>
            <a:ext cx="533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/>
          <p:nvPr/>
        </p:nvSpPr>
        <p:spPr>
          <a:xfrm>
            <a:off x="16274257" y="1023938"/>
            <a:ext cx="94694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NexoBot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143000" y="1924050"/>
            <a:ext cx="14716125" cy="1354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99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Primeras señales reales en nuestras redes sociales.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143000" y="3469323"/>
            <a:ext cx="3771900" cy="2154555"/>
          </a:xfrm>
          <a:prstGeom prst="roundRect">
            <a:avLst>
              <a:gd fmla="val 7073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1438275" y="3745548"/>
            <a:ext cx="3276791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6300"/>
              <a:buFont typeface="Arial"/>
              <a:buNone/>
            </a:pPr>
            <a:r>
              <a:rPr b="0" i="0" lang="en-US" sz="63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187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438275" y="4621848"/>
            <a:ext cx="3276791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Visualizaciones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438275" y="5052378"/>
            <a:ext cx="32767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28 cuentas alcanzadas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105400" y="3469323"/>
            <a:ext cx="3771900" cy="2154555"/>
          </a:xfrm>
          <a:prstGeom prst="roundRect">
            <a:avLst>
              <a:gd fmla="val 7073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400675" y="3745548"/>
            <a:ext cx="3276791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6300"/>
              <a:buFont typeface="Arial"/>
              <a:buNone/>
            </a:pPr>
            <a:r>
              <a:rPr b="0" i="0" lang="en-US" sz="63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400675" y="4621848"/>
            <a:ext cx="3276791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Interacciones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400675" y="5052378"/>
            <a:ext cx="32767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10 cuentas activas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143000" y="5814378"/>
            <a:ext cx="3771900" cy="2154555"/>
          </a:xfrm>
          <a:prstGeom prst="roundRect">
            <a:avLst>
              <a:gd fmla="val 7073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1438275" y="6090603"/>
            <a:ext cx="3276791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Arial"/>
              <a:buNone/>
            </a:pPr>
            <a:r>
              <a:rPr b="0" i="0" lang="en-US" sz="6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438275" y="6966903"/>
            <a:ext cx="3276791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Actividad en el perfil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438275" y="7397432"/>
            <a:ext cx="32767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42 visitas · 4 toques al enlace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105400" y="5814378"/>
            <a:ext cx="3771900" cy="2154555"/>
          </a:xfrm>
          <a:prstGeom prst="roundRect">
            <a:avLst>
              <a:gd fmla="val 7073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400675" y="6090603"/>
            <a:ext cx="3276791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Arial"/>
              <a:buNone/>
            </a:pPr>
            <a:r>
              <a:rPr b="0" i="0" lang="en-US" sz="6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400675" y="6966903"/>
            <a:ext cx="3276791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Seguidores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400675" y="7397432"/>
            <a:ext cx="32767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Cuenta recién lanzada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9410700" y="3469323"/>
            <a:ext cx="7734300" cy="4404360"/>
          </a:xfrm>
          <a:prstGeom prst="roundRect">
            <a:avLst>
              <a:gd fmla="val 3460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9801225" y="3821748"/>
            <a:ext cx="716184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Qué nos dicen estos números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0163175" y="4355148"/>
            <a:ext cx="6789039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Hay interés real: </a:t>
            </a: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el 82,8% de las interacciones son de seguidores que vuelven a ver el contenido.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0163175" y="5189537"/>
            <a:ext cx="6789039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mensaje viaja: </a:t>
            </a: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un 34,2% de las vistas son de gente que no nos sigue.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0163175" y="6023928"/>
            <a:ext cx="6789039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Quieren conocer más: </a:t>
            </a: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42 visitas al perfil y 4 toques al enlace, con la cuenta recién abierta.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0163175" y="6858317"/>
            <a:ext cx="6789039" cy="701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Aparecen las mismas dudas: </a:t>
            </a: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nos preguntan por precios, integración y qué rubros pueden usarlo.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7403300" y="9686925"/>
            <a:ext cx="884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05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14668500" y="7239000"/>
            <a:ext cx="4762500" cy="4762500"/>
          </a:xfrm>
          <a:prstGeom prst="ellipse">
            <a:avLst/>
          </a:prstGeom>
          <a:solidFill>
            <a:srgbClr val="00D5BE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1143000" y="952500"/>
            <a:ext cx="3336766" cy="438150"/>
          </a:xfrm>
          <a:prstGeom prst="roundRect">
            <a:avLst>
              <a:gd fmla="val 5000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1362075" y="1114425"/>
            <a:ext cx="114300" cy="114300"/>
          </a:xfrm>
          <a:prstGeom prst="ellipse">
            <a:avLst/>
          </a:prstGeom>
          <a:solidFill>
            <a:srgbClr val="00D492"/>
          </a:solidFill>
          <a:ln>
            <a:noFill/>
          </a:ln>
          <a:effectLst>
            <a:outerShdw blurRad="152400" rotWithShape="0" algn="bl" dir="16200000" dist="50800">
              <a:srgbClr val="00D49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1609725" y="1057275"/>
            <a:ext cx="273049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06 · Validación · Sitio web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7507" y="1019175"/>
            <a:ext cx="533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16274257" y="1023938"/>
            <a:ext cx="94694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NexoBot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143000" y="1924050"/>
            <a:ext cx="14716125" cy="614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sitio web también empezó a recibir visitas reales.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143000" y="2766854"/>
            <a:ext cx="16002000" cy="5772150"/>
          </a:xfrm>
          <a:prstGeom prst="roundRect">
            <a:avLst>
              <a:gd fmla="val 3960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1152525" y="2776379"/>
            <a:ext cx="15982950" cy="895350"/>
          </a:xfrm>
          <a:prstGeom prst="rect">
            <a:avLst/>
          </a:prstGeom>
          <a:solidFill>
            <a:srgbClr val="0F172B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1152525" y="3662204"/>
            <a:ext cx="159829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7325" y="310499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1819275" y="3057366"/>
            <a:ext cx="303920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economia-nexo.vercel.app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979511" y="3095466"/>
            <a:ext cx="119110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4705806" y="2985929"/>
            <a:ext cx="2124869" cy="466725"/>
          </a:xfrm>
          <a:prstGeom prst="roundRect">
            <a:avLst>
              <a:gd fmla="val 24490" name="adj"/>
            </a:avLst>
          </a:prstGeom>
          <a:solidFill>
            <a:srgbClr val="0F172B"/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86781" y="3114516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15191581" y="3071654"/>
            <a:ext cx="153431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Últimos 7 días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152525" y="5510054"/>
            <a:ext cx="159829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1495425" y="3938429"/>
            <a:ext cx="75248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Visitors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1495425" y="4328954"/>
            <a:ext cx="752484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9144000" y="3671729"/>
            <a:ext cx="9525" cy="18383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9496425" y="3938429"/>
            <a:ext cx="75150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Page Views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9496425" y="4328954"/>
            <a:ext cx="751503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19225" y="5786279"/>
            <a:ext cx="154495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/>
          <p:nvPr/>
        </p:nvSpPr>
        <p:spPr>
          <a:xfrm>
            <a:off x="1143000" y="8767604"/>
            <a:ext cx="1471612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El sitio se publicó el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 de mayo </a:t>
            </a: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y al día siguiente ya estaba arriba de las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40 visitas </a:t>
            </a: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. La línea punteada del 19 es el día parcial — todavía no terminó.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7408684" y="9686925"/>
            <a:ext cx="879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06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"/>
          <p:cNvSpPr/>
          <p:nvPr/>
        </p:nvSpPr>
        <p:spPr>
          <a:xfrm>
            <a:off x="-1905000" y="-2381250"/>
            <a:ext cx="6667500" cy="6667500"/>
          </a:xfrm>
          <a:prstGeom prst="ellipse">
            <a:avLst/>
          </a:prstGeom>
          <a:solidFill>
            <a:srgbClr val="00BC7D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14668500" y="7239000"/>
            <a:ext cx="4762500" cy="4762500"/>
          </a:xfrm>
          <a:prstGeom prst="ellipse">
            <a:avLst/>
          </a:prstGeom>
          <a:solidFill>
            <a:srgbClr val="00D5BE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1143000" y="952500"/>
            <a:ext cx="3245168" cy="438150"/>
          </a:xfrm>
          <a:prstGeom prst="roundRect">
            <a:avLst>
              <a:gd fmla="val 5000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1362075" y="1114425"/>
            <a:ext cx="114300" cy="114300"/>
          </a:xfrm>
          <a:prstGeom prst="ellipse">
            <a:avLst/>
          </a:prstGeom>
          <a:solidFill>
            <a:srgbClr val="00D492"/>
          </a:solidFill>
          <a:ln>
            <a:noFill/>
          </a:ln>
          <a:effectLst>
            <a:outerShdw blurRad="152400" rotWithShape="0" algn="bl" dir="16200000" dist="50800">
              <a:srgbClr val="00D49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1609725" y="1057275"/>
            <a:ext cx="26361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07 · Propuesta comercial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7507" y="1019175"/>
            <a:ext cx="533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9"/>
          <p:cNvSpPr/>
          <p:nvPr/>
        </p:nvSpPr>
        <p:spPr>
          <a:xfrm>
            <a:off x="16274257" y="1023938"/>
            <a:ext cx="94694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NexoBot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143000" y="1924050"/>
            <a:ext cx="14716125" cy="5318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Dos planes que crecen con el comercio.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143000" y="2646362"/>
            <a:ext cx="147161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2748E"/>
                </a:solidFill>
                <a:latin typeface="Arial"/>
                <a:ea typeface="Arial"/>
                <a:cs typeface="Arial"/>
                <a:sym typeface="Arial"/>
              </a:rPr>
              <a:t>Como recién arrancamos, los precios son de lanzamiento y tentativos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2857500" y="3170237"/>
            <a:ext cx="6134100" cy="6381274"/>
          </a:xfrm>
          <a:prstGeom prst="roundRect">
            <a:avLst>
              <a:gd fmla="val 2484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3114675" y="3446462"/>
            <a:ext cx="578834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114675" y="3865562"/>
            <a:ext cx="57883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Para arrancar rápido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3114675" y="5008562"/>
            <a:ext cx="56197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3114675" y="4294187"/>
            <a:ext cx="56197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3114675" y="4579937"/>
            <a:ext cx="52085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2748E"/>
                </a:solidFill>
                <a:latin typeface="Arial"/>
                <a:ea typeface="Arial"/>
                <a:cs typeface="Arial"/>
                <a:sym typeface="Arial"/>
              </a:rPr>
              <a:t>ARS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635534" y="4418012"/>
            <a:ext cx="2104231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$240.000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777865" y="4579937"/>
            <a:ext cx="6856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2748E"/>
                </a:solidFill>
                <a:latin typeface="Arial"/>
                <a:ea typeface="Arial"/>
                <a:cs typeface="Arial"/>
                <a:sym typeface="Arial"/>
              </a:rPr>
              <a:t>/ mes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2954655" y="5170487"/>
            <a:ext cx="5855970" cy="23239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Chatbot 24/7 en WhatsApp e Instagram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Respuestas sobre stock y disponibilidad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Catálogo de productos configurable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Mensajes personalizados con tu marca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Si el negocio no tiene base de datos, se la configuramos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Soporte por correo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3114675" y="8328501"/>
            <a:ext cx="56197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3114675" y="8452326"/>
            <a:ext cx="5788343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2748E"/>
                </a:solidFill>
                <a:latin typeface="Arial"/>
                <a:ea typeface="Arial"/>
                <a:cs typeface="Arial"/>
                <a:sym typeface="Arial"/>
              </a:rPr>
              <a:t>Para empezar sin complicarse. Bajo costo y fácil de implementar en comercios chicos.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9296400" y="3170237"/>
            <a:ext cx="6134100" cy="6381274"/>
          </a:xfrm>
          <a:prstGeom prst="roundRect">
            <a:avLst>
              <a:gd fmla="val 2484" name="adj"/>
            </a:avLst>
          </a:prstGeom>
          <a:solidFill>
            <a:srgbClr val="002C22">
              <a:alpha val="3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476250" rotWithShape="0" algn="bl" dir="5400000" dist="238125">
              <a:srgbClr val="00BC7D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11522869" y="2989262"/>
            <a:ext cx="1681163" cy="419100"/>
          </a:xfrm>
          <a:prstGeom prst="roundRect">
            <a:avLst>
              <a:gd fmla="val 50000" name="adj"/>
            </a:avLst>
          </a:prstGeom>
          <a:solidFill>
            <a:srgbClr val="00BC7D"/>
          </a:solidFill>
          <a:ln>
            <a:noFill/>
          </a:ln>
          <a:effectLst>
            <a:outerShdw blurRad="57150" rotWithShape="0" algn="bl" dir="5400000" dist="38100">
              <a:srgbClr val="00BC7D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11732419" y="3084512"/>
            <a:ext cx="133826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Más elegido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9553575" y="3446462"/>
            <a:ext cx="578834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9553575" y="3865562"/>
            <a:ext cx="578834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Solución completa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9553575" y="5008562"/>
            <a:ext cx="56197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9553575" y="4294187"/>
            <a:ext cx="56197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9553575" y="4579937"/>
            <a:ext cx="52085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2748E"/>
                </a:solidFill>
                <a:latin typeface="Arial"/>
                <a:ea typeface="Arial"/>
                <a:cs typeface="Arial"/>
                <a:sym typeface="Arial"/>
              </a:rPr>
              <a:t>ARS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0074434" y="4418012"/>
            <a:ext cx="214757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$500.000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2260104" y="4579937"/>
            <a:ext cx="6856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2748E"/>
                </a:solidFill>
                <a:latin typeface="Arial"/>
                <a:ea typeface="Arial"/>
                <a:cs typeface="Arial"/>
                <a:sym typeface="Arial"/>
              </a:rPr>
              <a:t>/ mes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9393555" y="5170487"/>
            <a:ext cx="5855970" cy="30818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Todo lo del plan Starter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Stock en tiempo real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Sincronización automática de precios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Panel web de gestión de stock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Múltiples usuarios con roles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Historial de movimientos y auditoría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Reportes mensuales de consultas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Capacitación incluida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Soporte prioritario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9553575" y="8328501"/>
            <a:ext cx="5619750" cy="9525"/>
          </a:xfrm>
          <a:prstGeom prst="rect">
            <a:avLst/>
          </a:prstGeom>
          <a:solidFill>
            <a:srgbClr val="1D2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9553575" y="8452326"/>
            <a:ext cx="5788343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2748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2748E"/>
                </a:solidFill>
                <a:latin typeface="Arial"/>
                <a:ea typeface="Arial"/>
                <a:cs typeface="Arial"/>
                <a:sym typeface="Arial"/>
              </a:rPr>
              <a:t>El plan completo. Pensado para comercios que quieren llevar todo a un mismo lugar.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1143000" y="9686925"/>
            <a:ext cx="27069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Planes comerciales · ARS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16369030" y="9686925"/>
            <a:ext cx="85217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07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/>
          <p:nvPr/>
        </p:nvSpPr>
        <p:spPr>
          <a:xfrm>
            <a:off x="-1905000" y="-2381250"/>
            <a:ext cx="6667500" cy="6667500"/>
          </a:xfrm>
          <a:prstGeom prst="ellipse">
            <a:avLst/>
          </a:prstGeom>
          <a:solidFill>
            <a:srgbClr val="00BC7D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14668500" y="7239000"/>
            <a:ext cx="4762500" cy="4762500"/>
          </a:xfrm>
          <a:prstGeom prst="ellipse">
            <a:avLst/>
          </a:prstGeom>
          <a:solidFill>
            <a:srgbClr val="00D5BE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1143000" y="952500"/>
            <a:ext cx="2296636" cy="438150"/>
          </a:xfrm>
          <a:prstGeom prst="roundRect">
            <a:avLst>
              <a:gd fmla="val 50000" name="adj"/>
            </a:avLst>
          </a:prstGeom>
          <a:solidFill>
            <a:srgbClr val="00BC7D">
              <a:alpha val="1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1362075" y="1114425"/>
            <a:ext cx="114300" cy="114300"/>
          </a:xfrm>
          <a:prstGeom prst="ellipse">
            <a:avLst/>
          </a:prstGeom>
          <a:solidFill>
            <a:srgbClr val="00D492"/>
          </a:solidFill>
          <a:ln>
            <a:noFill/>
          </a:ln>
          <a:effectLst>
            <a:outerShdw blurRad="152400" rotWithShape="0" algn="bl" dir="16200000" dist="50800">
              <a:srgbClr val="00D49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1609725" y="1057275"/>
            <a:ext cx="168703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08 · Conclusión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07507" y="1019175"/>
            <a:ext cx="533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/>
          <p:nvPr/>
        </p:nvSpPr>
        <p:spPr>
          <a:xfrm>
            <a:off x="16274257" y="1023938"/>
            <a:ext cx="94694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NexoBot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1143000" y="1924050"/>
            <a:ext cx="14716125" cy="1684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Hay mercado, hay interés real y tenemos una propuesta </a:t>
            </a:r>
            <a:r>
              <a:rPr b="0" i="0" lang="en-US" sz="60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que puede crecer.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1143000" y="4103370"/>
            <a:ext cx="5156200" cy="2727960"/>
          </a:xfrm>
          <a:prstGeom prst="roundRect">
            <a:avLst>
              <a:gd fmla="val 5587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1457325" y="4379595"/>
            <a:ext cx="514350" cy="514350"/>
          </a:xfrm>
          <a:prstGeom prst="ellipse">
            <a:avLst/>
          </a:prstGeom>
          <a:solidFill>
            <a:srgbClr val="00BC7D">
              <a:alpha val="14901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1428750" y="4389120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1457325" y="5103495"/>
            <a:ext cx="46633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mercado existe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1457325" y="5560695"/>
            <a:ext cx="4663376" cy="10325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Más de 138 mil comercios PyME en la provincia, y la mayoría todavía no usa IA ni tiene un buen sistema de gestión.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6565900" y="4103370"/>
            <a:ext cx="5156200" cy="2727960"/>
          </a:xfrm>
          <a:prstGeom prst="roundRect">
            <a:avLst>
              <a:gd fmla="val 5587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6880225" y="4379595"/>
            <a:ext cx="514350" cy="514350"/>
          </a:xfrm>
          <a:prstGeom prst="ellipse">
            <a:avLst/>
          </a:prstGeom>
          <a:solidFill>
            <a:srgbClr val="00BC7D">
              <a:alpha val="14901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6851650" y="4389120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880225" y="5103495"/>
            <a:ext cx="466337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Ya hay gente interesada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880225" y="5560695"/>
            <a:ext cx="4663377" cy="10325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En pocas semanas en redes vimos visitas, consultas y preguntas concretas sobre el producto.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11988800" y="4103370"/>
            <a:ext cx="5156200" cy="2727960"/>
          </a:xfrm>
          <a:prstGeom prst="roundRect">
            <a:avLst>
              <a:gd fmla="val 5587" name="adj"/>
            </a:avLst>
          </a:prstGeom>
          <a:solidFill>
            <a:srgbClr val="0F172B">
              <a:alpha val="40000"/>
            </a:srgbClr>
          </a:solidFill>
          <a:ln cap="flat" cmpd="sng" w="9525">
            <a:solidFill>
              <a:srgbClr val="1D2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12303125" y="4379595"/>
            <a:ext cx="514350" cy="514350"/>
          </a:xfrm>
          <a:prstGeom prst="ellipse">
            <a:avLst/>
          </a:prstGeom>
          <a:solidFill>
            <a:srgbClr val="00BC7D">
              <a:alpha val="14901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12274550" y="4389120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9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4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12303125" y="5103495"/>
            <a:ext cx="46633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Tenemos por dónde empezar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12303125" y="5560695"/>
            <a:ext cx="4663376" cy="10325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0A1B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0A1B9"/>
                </a:solidFill>
                <a:latin typeface="Arial"/>
                <a:ea typeface="Arial"/>
                <a:cs typeface="Arial"/>
                <a:sym typeface="Arial"/>
              </a:rPr>
              <a:t>Dos planes — Starter y Business — con precios accesibles para arrancar y opciones para crecer.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1143000" y="7840980"/>
            <a:ext cx="16002000" cy="1398270"/>
          </a:xfrm>
          <a:prstGeom prst="roundRect">
            <a:avLst>
              <a:gd fmla="val 16349" name="adj"/>
            </a:avLst>
          </a:prstGeom>
          <a:solidFill>
            <a:srgbClr val="002C22">
              <a:alpha val="50196"/>
            </a:srgbClr>
          </a:solidFill>
          <a:ln cap="flat" cmpd="sng" w="9525">
            <a:solidFill>
              <a:srgbClr val="00BC7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1571625" y="8193405"/>
            <a:ext cx="1079182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5E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Con un mercado grande, primeras señales positivas y dos planes pensados para distintos tipos de comercio,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NexoBot tiene una base sólida </a:t>
            </a:r>
            <a:r>
              <a:rPr b="0" i="0" lang="en-US" sz="1950" u="none" cap="none" strike="noStrike">
                <a:solidFill>
                  <a:srgbClr val="CAD5E2"/>
                </a:solidFill>
                <a:latin typeface="Arial"/>
                <a:ea typeface="Arial"/>
                <a:cs typeface="Arial"/>
                <a:sym typeface="Arial"/>
              </a:rPr>
              <a:t>para dar los primeros pasos.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2977" y="8359140"/>
            <a:ext cx="6096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0"/>
          <p:cNvSpPr/>
          <p:nvPr/>
        </p:nvSpPr>
        <p:spPr>
          <a:xfrm>
            <a:off x="15694977" y="8368665"/>
            <a:ext cx="109759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NexoBot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1143000" y="9686925"/>
            <a:ext cx="123713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16341566" y="9686925"/>
            <a:ext cx="87963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5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5556C"/>
                </a:solidFill>
                <a:latin typeface="Arial"/>
                <a:ea typeface="Arial"/>
                <a:cs typeface="Arial"/>
                <a:sym typeface="Arial"/>
              </a:rPr>
              <a:t>08 / 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